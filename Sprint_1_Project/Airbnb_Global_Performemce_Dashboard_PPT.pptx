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70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585D"/>
    <a:srgbClr val="B3B3B3"/>
    <a:srgbClr val="E6E6E6"/>
    <a:srgbClr val="FA3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28C2-8E74-51D5-3BE5-E2DAA312B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F8024-AA86-869A-3465-22022474B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38AE8-7ECE-3D5C-06EA-3475F533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22A3C-6C35-0313-F94E-F20C1C6A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68892-8135-A6AA-6E7D-B019B4CA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2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B206-8411-E692-A7D6-955CB7C24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E712B-628C-DA90-A5E3-4E8B9A9E4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A83E9-4463-7D9B-3B87-D492D44C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1001-91C9-44D5-F3F4-B315324D6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AF37A-9710-1947-49B0-DE41F851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0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04B5-8097-75C1-86B6-182635D6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011F6-55D7-9E00-B38E-E299E51F0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32B1D-B579-90B1-F5B8-06A05D09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CB73C-FC21-7746-FDFA-07C8D58B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E9E73-5A1D-D20E-D86B-EA688255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4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B4D6-3D96-C536-7CA2-F000430D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E5D6B-63A6-7604-21EA-99BA3A45E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23666-87AD-FA6D-2913-DD774EAAB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F27A2-E55B-2BCE-E781-66827232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8FFFA-3513-347B-DC18-43442E3E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69E70-B790-BAEC-F5B2-F66C1E51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70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9A97-B211-BB9B-558A-7B0F19C1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F9919-A8A2-098F-EA9C-2DFF090EB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6B58B-F379-5035-A366-2CBEE58BD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508D51-51B2-D5BF-388A-C63BF298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546B5-9984-A59C-C81C-8904C5F45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B0BB0-8F3C-A5CB-2876-51A018573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1D2E1-7118-371E-17F9-0E7544CD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74C81-1155-2341-3605-E14B1D7D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4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D467-4162-F0B2-CB13-531959A5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B54E0-2F4C-CC40-2B8E-4F7148C3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14D11-34F1-B9BE-4A0C-7AF5E2265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8D793-7FB7-0DF4-58A9-647C0D1E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1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AB9F8-BC5C-0EAE-2937-88009615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A7680-DD7D-C5A2-9313-15ED27127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ACFF3-7853-9B77-A0CF-38EF99F9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8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AC0C-FE55-5297-C32B-728D20F3A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58E3-5E24-3D52-F2FE-46E9ACEA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85277-4923-2D75-A858-5BB5D8DC1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EED2C-F4CB-DCB3-8181-7C04AA89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D038D-D6D2-5649-366C-48E3E742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1B685-A8D2-9E1D-6A94-C427316C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8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3111-EEC9-E013-EBAE-B521D49E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BF103-3CC9-885E-EECE-4B04DAE36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21CCB-C34E-38CD-9EC3-3E4AE3CFB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C5942-102F-AA13-E615-C0655842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507D4-389F-65A7-00EB-92C78CCF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44BA0-50D0-8579-294C-3633097D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7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C614-EF5F-60A4-5975-18F1AD8C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52328-5F87-A27A-44CD-5A26ED4C1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3D700-3B39-6668-3920-FBF18B97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7FFDD-C1ED-5A38-8800-11022B2E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92E2E-C023-B1A8-DDFC-0B775D51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0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AAE28D-51D0-01B5-F7D8-614B765E3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E252F-F42A-C87B-B23E-A00FA10F7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1A09F-FCC4-15A1-9B86-08E4DD99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01DD1-0039-D6F0-7EF9-1664CF39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9B7DE-5DE0-68F8-55D2-908B0284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2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FE4D5-7786-DBD5-1DF2-A42BF480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E9EEE-7A0A-D9B5-A3C4-8A53B9EAA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98020-42B0-4901-1EEB-22600DCFA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B3DA7-2F8B-4114-AB32-77C6F17FF1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BA48E-C72B-2686-37F7-C2AC4C3DD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A7A20-B770-6E17-0A5F-A514C6018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699E1-0793-4404-9D05-25FC53E29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3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4940B8-7BED-935A-0C72-97CB01E65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98"/>
          <a:stretch>
            <a:fillRect/>
          </a:stretch>
        </p:blipFill>
        <p:spPr>
          <a:xfrm>
            <a:off x="0" y="0"/>
            <a:ext cx="5952931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28D51A-7B69-99C5-F7B4-4F97FC43C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1" y="139959"/>
            <a:ext cx="2181356" cy="6811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F86E3B-A6C2-4F31-7242-673FCD3A6198}"/>
              </a:ext>
            </a:extLst>
          </p:cNvPr>
          <p:cNvSpPr/>
          <p:nvPr/>
        </p:nvSpPr>
        <p:spPr>
          <a:xfrm>
            <a:off x="6096000" y="942592"/>
            <a:ext cx="5895012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48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Airbnb</a:t>
            </a:r>
          </a:p>
          <a:p>
            <a:r>
              <a:rPr lang="en-US" sz="48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Global Performance</a:t>
            </a:r>
          </a:p>
          <a:p>
            <a:r>
              <a:rPr lang="en-US" sz="48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Dashboard </a:t>
            </a:r>
            <a:endParaRPr lang="en-US" sz="4800" b="0" cap="none" spc="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antGarde Md BT" panose="020B06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D31229-2D8E-1B49-107B-29B89A2B06DB}"/>
              </a:ext>
            </a:extLst>
          </p:cNvPr>
          <p:cNvSpPr txBox="1"/>
          <p:nvPr/>
        </p:nvSpPr>
        <p:spPr>
          <a:xfrm>
            <a:off x="9043506" y="5453743"/>
            <a:ext cx="43294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By-</a:t>
            </a:r>
          </a:p>
          <a:p>
            <a:r>
              <a:rPr lang="en-US" dirty="0"/>
              <a:t>	Debraj Paul</a:t>
            </a:r>
          </a:p>
          <a:p>
            <a:r>
              <a:rPr lang="en-US" dirty="0"/>
              <a:t>	Id – AF05266178</a:t>
            </a:r>
          </a:p>
        </p:txBody>
      </p:sp>
    </p:spTree>
    <p:extLst>
      <p:ext uri="{BB962C8B-B14F-4D97-AF65-F5344CB8AC3E}">
        <p14:creationId xmlns:p14="http://schemas.microsoft.com/office/powerpoint/2010/main" val="340328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BCB9B-3F95-A160-29DF-B6034EB2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5BE952-46FF-D588-98E4-7E0BB6666525}"/>
              </a:ext>
            </a:extLst>
          </p:cNvPr>
          <p:cNvSpPr/>
          <p:nvPr/>
        </p:nvSpPr>
        <p:spPr>
          <a:xfrm>
            <a:off x="609599" y="1062259"/>
            <a:ext cx="333937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Airbnb</a:t>
            </a:r>
          </a:p>
          <a:p>
            <a:r>
              <a:rPr lang="en-US" sz="36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Business Model</a:t>
            </a:r>
            <a:endParaRPr lang="en-US" sz="3600" b="0" cap="none" spc="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antGarde Md BT" panose="020B06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424A1-B86B-726C-3825-197D64E9F811}"/>
              </a:ext>
            </a:extLst>
          </p:cNvPr>
          <p:cNvSpPr txBox="1"/>
          <p:nvPr/>
        </p:nvSpPr>
        <p:spPr>
          <a:xfrm>
            <a:off x="609599" y="2262588"/>
            <a:ext cx="59591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Airbnb operates as a </a:t>
            </a:r>
            <a:r>
              <a:rPr lang="en-US" sz="2000" b="1" u="none" strike="noStrike" dirty="0">
                <a:effectLst/>
              </a:rPr>
              <a:t>two-sided digital marketplace</a:t>
            </a:r>
            <a:r>
              <a:rPr lang="en-US" sz="2000" dirty="0"/>
              <a:t> that connects </a:t>
            </a:r>
            <a:r>
              <a:rPr lang="en-US" sz="2000" b="1" u="none" strike="noStrike" dirty="0">
                <a:effectLst/>
              </a:rPr>
              <a:t>Hosts</a:t>
            </a:r>
            <a:r>
              <a:rPr lang="en-US" sz="2000" dirty="0"/>
              <a:t> (individuals looking to rent out their spare space) with </a:t>
            </a:r>
            <a:r>
              <a:rPr lang="en-US" sz="2000" b="1" u="none" strike="noStrike" dirty="0">
                <a:effectLst/>
              </a:rPr>
              <a:t>Guests</a:t>
            </a:r>
            <a:r>
              <a:rPr lang="en-US" sz="2000" dirty="0"/>
              <a:t> (travelers seeking unique, affordable accommodations). Instead of owning any physical real estate, Airbnb provides the platform that facilitates trust, matching, and secure transactions between both parties.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3EB483-F3FC-48CB-1F1C-81FED1322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FB2DDC-572A-5110-8325-5E34B14DA4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0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2FEDF-261E-E3F7-3094-BC671CD9F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2D9A45-2F92-B889-A444-E27AA381B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06"/>
          <a:stretch>
            <a:fillRect/>
          </a:stretch>
        </p:blipFill>
        <p:spPr>
          <a:xfrm>
            <a:off x="1426838" y="358063"/>
            <a:ext cx="9338324" cy="614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8A4692-0649-1113-F8CF-6E3501AA9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32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88CA2-2A73-8B57-BAB1-F53C7BE4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FDAF3-2FEF-ECB2-0237-5F75206B6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887024-C97C-8921-A7B6-DF4316A45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70" y="407581"/>
            <a:ext cx="8644061" cy="604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0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E0FCE-3397-EE4F-BE91-6DF74A021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57E58-491C-9FD1-F4A4-A3FA3E8F1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50E37A-4C5D-EFA4-A2FA-FE59A0B5CFEA}"/>
              </a:ext>
            </a:extLst>
          </p:cNvPr>
          <p:cNvSpPr/>
          <p:nvPr/>
        </p:nvSpPr>
        <p:spPr>
          <a:xfrm>
            <a:off x="910311" y="636558"/>
            <a:ext cx="198323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Datasets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017313-761D-A582-B72B-9EEB1A8C8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94" y="640185"/>
            <a:ext cx="571517" cy="571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EEDC0E-1B53-5227-91BA-C65940AD4522}"/>
              </a:ext>
            </a:extLst>
          </p:cNvPr>
          <p:cNvSpPr txBox="1"/>
          <p:nvPr/>
        </p:nvSpPr>
        <p:spPr>
          <a:xfrm>
            <a:off x="338794" y="1282889"/>
            <a:ext cx="12042928" cy="574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050" b="1" dirty="0">
                <a:effectLst/>
              </a:rPr>
              <a:t>Listing.xlsx</a:t>
            </a:r>
            <a:r>
              <a:rPr lang="en-US" sz="1050" b="0" dirty="0">
                <a:effectLst/>
              </a:rPr>
              <a:t> contains standard short-term rental market data (similar to Airbnb). The 33 fields can be logically grouped into </a:t>
            </a:r>
            <a:r>
              <a:rPr lang="en-US" sz="1050" b="1" dirty="0">
                <a:effectLst/>
              </a:rPr>
              <a:t>five core themes</a:t>
            </a:r>
            <a:r>
              <a:rPr lang="en-US" sz="1050" b="0" dirty="0">
                <a:effectLst/>
              </a:rPr>
              <a:t> for your presentation slides:</a:t>
            </a:r>
          </a:p>
          <a:p>
            <a:pPr>
              <a:buNone/>
            </a:pPr>
            <a:r>
              <a:rPr lang="en-US" sz="1050" b="1" u="sng" dirty="0">
                <a:effectLst/>
              </a:rPr>
              <a:t>Host Profile &amp; Credibility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Host Identity:</a:t>
            </a:r>
            <a:r>
              <a:rPr lang="en-US" sz="1050" dirty="0"/>
              <a:t> Tracks basic operational metrics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host_id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host_since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host_location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host_total_listings_count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Trust &amp; Verification:</a:t>
            </a:r>
            <a:r>
              <a:rPr lang="en-US" sz="1050" dirty="0"/>
              <a:t> Indicators for safety and reliability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host_is_superhost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host_has_profile_pic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host_identity_verified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Responsiveness:</a:t>
            </a:r>
            <a:r>
              <a:rPr lang="en-US" sz="1050" dirty="0"/>
              <a:t> Evaluates how reliably a host communicates with guests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host_response_time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host_response_rate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host_acceptance_rate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u="sng" dirty="0">
                <a:effectLst/>
              </a:rPr>
              <a:t>Property &amp; Listing Details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Core Identification:</a:t>
            </a:r>
            <a:r>
              <a:rPr lang="en-US" sz="1050" dirty="0"/>
              <a:t> Unique descriptors for each ad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listing_id</a:t>
            </a:r>
            <a:r>
              <a:rPr lang="en-US" sz="1050" dirty="0"/>
              <a:t>, 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name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Property Character:</a:t>
            </a:r>
            <a:r>
              <a:rPr lang="en-US" sz="1050" dirty="0"/>
              <a:t> Classifies the style and setup of the space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property_type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room_type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Capacity:</a:t>
            </a:r>
            <a:r>
              <a:rPr lang="en-US" sz="1050" dirty="0"/>
              <a:t> Specifies the size and layout (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accommodates</a:t>
            </a:r>
            <a:r>
              <a:rPr lang="en-US" sz="1050" dirty="0"/>
              <a:t>, 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bedrooms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Features:</a:t>
            </a:r>
            <a:r>
              <a:rPr lang="en-US" sz="1050" dirty="0"/>
              <a:t> List of physical items or perks included in the stay (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amenities</a:t>
            </a:r>
            <a:r>
              <a:rPr lang="en-US" sz="1050" dirty="0"/>
              <a:t>).</a:t>
            </a:r>
          </a:p>
          <a:p>
            <a:pPr>
              <a:buNone/>
            </a:pPr>
            <a:r>
              <a:rPr lang="en-US" sz="1050" b="1" u="sng" dirty="0">
                <a:effectLst/>
              </a:rPr>
              <a:t>Geographic Distribution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Macro Location:</a:t>
            </a:r>
            <a:r>
              <a:rPr lang="en-US" sz="1050" dirty="0"/>
              <a:t> Broader regional context (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city</a:t>
            </a:r>
            <a:r>
              <a:rPr lang="en-US" sz="1050" dirty="0"/>
              <a:t>, 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district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Micro Location:</a:t>
            </a:r>
            <a:r>
              <a:rPr lang="en-US" sz="1050" dirty="0"/>
              <a:t> Local area context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neighbourhood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Spatial Coordinates:</a:t>
            </a:r>
            <a:r>
              <a:rPr lang="en-US" sz="1050" dirty="0"/>
              <a:t> Precise mapping vectors (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latitude</a:t>
            </a:r>
            <a:r>
              <a:rPr lang="en-US" sz="1050" dirty="0"/>
              <a:t>, 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longitude</a:t>
            </a:r>
            <a:r>
              <a:rPr lang="en-US" sz="1050" dirty="0"/>
              <a:t>).</a:t>
            </a:r>
          </a:p>
          <a:p>
            <a:pPr>
              <a:buNone/>
            </a:pPr>
            <a:r>
              <a:rPr lang="en-US" sz="1050" b="1" u="sng" dirty="0">
                <a:effectLst/>
              </a:rPr>
              <a:t>Financials &amp; Booking Rules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Pricing:</a:t>
            </a:r>
            <a:r>
              <a:rPr lang="en-US" sz="1050" dirty="0"/>
              <a:t> The nightly base cost of renting the property (</a:t>
            </a:r>
            <a:r>
              <a:rPr lang="en-US" sz="1050" dirty="0">
                <a:effectLst/>
                <a:latin typeface="Courier New" panose="02070309020205020404" pitchFamily="49" charset="0"/>
              </a:rPr>
              <a:t>price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Stay Restrictions:</a:t>
            </a:r>
            <a:r>
              <a:rPr lang="en-US" sz="1050" dirty="0"/>
              <a:t> Minimum and maximum boundaries for a single stay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minimum_nights</a:t>
            </a:r>
            <a:r>
              <a:rPr lang="en-US" sz="1050" dirty="0"/>
              <a:t>, 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maximum_nights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Logistics:</a:t>
            </a:r>
            <a:r>
              <a:rPr lang="en-US" sz="1050" dirty="0"/>
              <a:t> Shows if a guest can book immediately without host approval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instant_bookable</a:t>
            </a:r>
            <a:r>
              <a:rPr lang="en-US" sz="1050" dirty="0"/>
              <a:t>).</a:t>
            </a:r>
          </a:p>
          <a:p>
            <a:pPr>
              <a:buNone/>
            </a:pPr>
            <a:r>
              <a:rPr lang="en-US" sz="1050" b="1" dirty="0">
                <a:effectLst/>
              </a:rPr>
              <a:t> </a:t>
            </a:r>
            <a:r>
              <a:rPr lang="en-US" sz="1050" b="1" u="sng" dirty="0">
                <a:effectLst/>
              </a:rPr>
              <a:t>Review &amp; Quality Scores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Overall Rating:</a:t>
            </a:r>
            <a:r>
              <a:rPr lang="en-US" sz="1050" dirty="0"/>
              <a:t> Summary guest satisfaction metric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review_scores_rating</a:t>
            </a:r>
            <a:r>
              <a:rPr lang="en-US" sz="1050" dirty="0"/>
              <a:t>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b="1" dirty="0">
                <a:effectLst/>
              </a:rPr>
              <a:t>Granular Performance Categories:</a:t>
            </a:r>
            <a:r>
              <a:rPr lang="en-US" sz="1050" dirty="0"/>
              <a:t> Breakdown of specific operational elements: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i="1" dirty="0">
                <a:effectLst/>
              </a:rPr>
              <a:t>Accuracy:</a:t>
            </a:r>
            <a:r>
              <a:rPr lang="en-US" sz="1050" dirty="0"/>
              <a:t> Listing truthfulness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review_scores_accuracy</a:t>
            </a:r>
            <a:r>
              <a:rPr lang="en-US" sz="1050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i="1" dirty="0">
                <a:effectLst/>
              </a:rPr>
              <a:t>Hygiene:</a:t>
            </a:r>
            <a:r>
              <a:rPr lang="en-US" sz="1050" dirty="0"/>
              <a:t> Cleanliness level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review_scores_cleanliness</a:t>
            </a:r>
            <a:r>
              <a:rPr lang="en-US" sz="1050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i="1" dirty="0">
                <a:effectLst/>
              </a:rPr>
              <a:t>Arrival:</a:t>
            </a:r>
            <a:r>
              <a:rPr lang="en-US" sz="1050" dirty="0"/>
              <a:t> Check-in process seamlessness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review_scores_checkin</a:t>
            </a:r>
            <a:r>
              <a:rPr lang="en-US" sz="1050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i="1" dirty="0">
                <a:effectLst/>
              </a:rPr>
              <a:t>Interaction:</a:t>
            </a:r>
            <a:r>
              <a:rPr lang="en-US" sz="1050" dirty="0"/>
              <a:t> Host communication standard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review_scores_communication</a:t>
            </a:r>
            <a:r>
              <a:rPr lang="en-US" sz="1050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i="1" dirty="0">
                <a:effectLst/>
              </a:rPr>
              <a:t>Setting:</a:t>
            </a:r>
            <a:r>
              <a:rPr lang="en-US" sz="1050" dirty="0"/>
              <a:t> Real-world location satisfaction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review_scores_location</a:t>
            </a:r>
            <a:r>
              <a:rPr lang="en-US" sz="1050" dirty="0"/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050" i="1" dirty="0">
                <a:effectLst/>
              </a:rPr>
              <a:t>ROI:</a:t>
            </a:r>
            <a:r>
              <a:rPr lang="en-US" sz="1050" dirty="0"/>
              <a:t> Value for money spent (</a:t>
            </a:r>
            <a:r>
              <a:rPr lang="en-US" sz="1050" dirty="0" err="1">
                <a:effectLst/>
                <a:latin typeface="Courier New" panose="02070309020205020404" pitchFamily="49" charset="0"/>
              </a:rPr>
              <a:t>review_scores_value</a:t>
            </a:r>
            <a:r>
              <a:rPr lang="en-US" sz="1050" dirty="0"/>
              <a:t>)</a:t>
            </a:r>
          </a:p>
          <a:p>
            <a:br>
              <a:rPr lang="en-US" sz="1050" dirty="0"/>
            </a:br>
            <a:r>
              <a:rPr lang="en-US" sz="1050" b="1" dirty="0"/>
              <a:t>Reviews.xlsx</a:t>
            </a:r>
            <a:r>
              <a:rPr lang="en-US" sz="1050" dirty="0"/>
              <a:t> serves as a transactional relational table that connects to the previous dataset. It contains four core tracking metrics, which can be presented on a single slide detailing user interaction data:</a:t>
            </a:r>
          </a:p>
          <a:p>
            <a:r>
              <a:rPr lang="en-US" sz="1050" b="1" dirty="0"/>
              <a:t>Slide Breakdown: Guest Engagement &amp; Reviews</a:t>
            </a:r>
          </a:p>
          <a:p>
            <a:pPr lvl="0"/>
            <a:r>
              <a:rPr lang="en-US" sz="1050" b="1" dirty="0"/>
              <a:t>Listing Connection:</a:t>
            </a:r>
            <a:r>
              <a:rPr lang="en-US" sz="1050" dirty="0"/>
              <a:t> The primary connector field (</a:t>
            </a:r>
            <a:r>
              <a:rPr lang="en-US" sz="1050" dirty="0" err="1"/>
              <a:t>listing_id</a:t>
            </a:r>
            <a:r>
              <a:rPr lang="en-US" sz="1050" dirty="0"/>
              <a:t>) that links each review back to the specific property from the Listing.xlsx database.</a:t>
            </a:r>
          </a:p>
          <a:p>
            <a:pPr lvl="0"/>
            <a:r>
              <a:rPr lang="en-US" sz="1050" b="1" dirty="0"/>
              <a:t>Unique Indicators:</a:t>
            </a:r>
            <a:r>
              <a:rPr lang="en-US" sz="1050" dirty="0"/>
              <a:t> Unique system keys assigned to organize the reviews and individuals (</a:t>
            </a:r>
            <a:r>
              <a:rPr lang="en-US" sz="1050" dirty="0" err="1"/>
              <a:t>review_id</a:t>
            </a:r>
            <a:r>
              <a:rPr lang="en-US" sz="1050" dirty="0"/>
              <a:t>, </a:t>
            </a:r>
            <a:r>
              <a:rPr lang="en-US" sz="1050" dirty="0" err="1"/>
              <a:t>reviewer_id</a:t>
            </a:r>
            <a:r>
              <a:rPr lang="en-US" sz="1050" dirty="0"/>
              <a:t>).</a:t>
            </a:r>
          </a:p>
          <a:p>
            <a:pPr lvl="0"/>
            <a:r>
              <a:rPr lang="en-US" sz="1050" b="1" dirty="0"/>
              <a:t>Temporal Tracking:</a:t>
            </a:r>
            <a:r>
              <a:rPr lang="en-US" sz="1050" dirty="0"/>
              <a:t> The specific timestamp documenting exactly when the review was posted by the guest (date).</a:t>
            </a:r>
          </a:p>
          <a:p>
            <a:pPr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4200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3C4BE-3EC5-0F53-C884-9BA6439A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73704-2B6C-6787-C8C1-8B216FC97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F97848-7B63-4382-B7B9-EE6C79B6431E}"/>
              </a:ext>
            </a:extLst>
          </p:cNvPr>
          <p:cNvSpPr/>
          <p:nvPr/>
        </p:nvSpPr>
        <p:spPr>
          <a:xfrm>
            <a:off x="1004853" y="670373"/>
            <a:ext cx="221887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Questions</a:t>
            </a:r>
            <a:endParaRPr lang="en-US" sz="3600" b="0" cap="none" spc="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vantGarde Md BT" panose="020B06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EC384-9A70-AAC1-AD0C-8E9DC3F0B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81" y="670373"/>
            <a:ext cx="576072" cy="5693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7BEDE5-D30D-877A-D03A-3836F78EFC65}"/>
              </a:ext>
            </a:extLst>
          </p:cNvPr>
          <p:cNvSpPr txBox="1"/>
          <p:nvPr/>
        </p:nvSpPr>
        <p:spPr>
          <a:xfrm>
            <a:off x="428781" y="1467103"/>
            <a:ext cx="914322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0" dirty="0">
                <a:effectLst/>
              </a:rPr>
              <a:t>Based on the provided presentation slides and dashboard pages, here are the business questions that the dashboard answers, grouped by analytical category.</a:t>
            </a:r>
          </a:p>
          <a:p>
            <a:pPr>
              <a:buNone/>
            </a:pPr>
            <a:r>
              <a:rPr lang="en-US" sz="1200" b="1" dirty="0">
                <a:effectLst/>
              </a:rPr>
              <a:t>📊 Big Picture / Overview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How big is Airbnb's presence across major global cities?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How has Airbnb grown over time and where did it peak?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Which cities contribute most to Airbnb's overall business?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Are listings concentrated or evenly spread across cities?</a:t>
            </a:r>
          </a:p>
          <a:p>
            <a:pPr>
              <a:buNone/>
            </a:pPr>
            <a:r>
              <a:rPr lang="en-US" sz="1200" b="1" dirty="0">
                <a:effectLst/>
              </a:rPr>
              <a:t>📈 Market Share by City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Which cities dominate Airbnb listings globally?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Are a few cities driving most of the supply?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How much of the total market do top cities control?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What is the cumulative contribution of cities like Paris, NYC, and Sydney?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Is Airbnb supply fragmented or highly concentrated?</a:t>
            </a:r>
          </a:p>
          <a:p>
            <a:pPr>
              <a:buNone/>
            </a:pPr>
            <a:r>
              <a:rPr lang="en-US" sz="1200" b="1" dirty="0">
                <a:effectLst/>
              </a:rPr>
              <a:t>🏠 Property Type &amp; Pricing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Which property types are most commonly listed?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Are hotel rooms more expensive than Airbnb stays?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Why might travelers prefer Airbnb over hotels in certain cities?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Does pricing explain higher adoption in cities like Paris?</a:t>
            </a:r>
          </a:p>
          <a:p>
            <a:pPr>
              <a:buNone/>
            </a:pPr>
            <a:r>
              <a:rPr lang="en-US" sz="1200" b="1" dirty="0">
                <a:effectLst/>
              </a:rPr>
              <a:t>⭐ Ratings &amp; Customer Satisfaction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Which cities deliver the best overall guest experience?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Which cities are underperforming on ratings?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Are low ratings driven by cleanliness, value for money, or communication?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Is high supply always equal to high quality?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4779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9086C-65A1-3ECF-00C9-8F8812D4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06388-51A1-9723-DA9F-D9BF0A4FE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12AC70-DFBB-3124-22D9-F4D3BAB69FE7}"/>
              </a:ext>
            </a:extLst>
          </p:cNvPr>
          <p:cNvSpPr/>
          <p:nvPr/>
        </p:nvSpPr>
        <p:spPr>
          <a:xfrm>
            <a:off x="755779" y="539744"/>
            <a:ext cx="25378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C768A-9BA1-7010-AD0D-00D308812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905" y="454747"/>
            <a:ext cx="7958639" cy="59485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AFC2595-745A-82A8-4241-87967657722C}"/>
              </a:ext>
            </a:extLst>
          </p:cNvPr>
          <p:cNvSpPr/>
          <p:nvPr/>
        </p:nvSpPr>
        <p:spPr>
          <a:xfrm>
            <a:off x="802432" y="1186075"/>
            <a:ext cx="194835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Overview Page</a:t>
            </a:r>
          </a:p>
        </p:txBody>
      </p:sp>
    </p:spTree>
    <p:extLst>
      <p:ext uri="{BB962C8B-B14F-4D97-AF65-F5344CB8AC3E}">
        <p14:creationId xmlns:p14="http://schemas.microsoft.com/office/powerpoint/2010/main" val="932379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DB794-5EC1-2CF3-0EF1-64491F81E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55102-49DB-AE24-F01F-A61CCECFB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66B84E-0CF2-955A-2C07-B627D233C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246" y="511130"/>
            <a:ext cx="7812956" cy="58357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C9B8E29-0BBB-BF1E-2AF8-CD19C1683BA8}"/>
              </a:ext>
            </a:extLst>
          </p:cNvPr>
          <p:cNvSpPr/>
          <p:nvPr/>
        </p:nvSpPr>
        <p:spPr>
          <a:xfrm>
            <a:off x="755779" y="539744"/>
            <a:ext cx="25378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Dashboard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78946-EEEE-15FB-317F-5BF26EAB00E9}"/>
              </a:ext>
            </a:extLst>
          </p:cNvPr>
          <p:cNvSpPr/>
          <p:nvPr/>
        </p:nvSpPr>
        <p:spPr>
          <a:xfrm>
            <a:off x="755779" y="1186075"/>
            <a:ext cx="160890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Rating Page</a:t>
            </a:r>
          </a:p>
        </p:txBody>
      </p:sp>
    </p:spTree>
    <p:extLst>
      <p:ext uri="{BB962C8B-B14F-4D97-AF65-F5344CB8AC3E}">
        <p14:creationId xmlns:p14="http://schemas.microsoft.com/office/powerpoint/2010/main" val="2295678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8D39A-EB1A-16FC-811F-4A126807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CFD726-9A27-1596-3758-FE3114CBA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38CB0E1-9A02-619A-1190-3C67DB687E9C}"/>
              </a:ext>
            </a:extLst>
          </p:cNvPr>
          <p:cNvSpPr/>
          <p:nvPr/>
        </p:nvSpPr>
        <p:spPr>
          <a:xfrm>
            <a:off x="755779" y="539744"/>
            <a:ext cx="61141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Key Performance Indicators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D8A90-D188-78EB-56A1-3EEF2CF0DC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919"/>
          <a:stretch>
            <a:fillRect/>
          </a:stretch>
        </p:blipFill>
        <p:spPr>
          <a:xfrm>
            <a:off x="839754" y="1282855"/>
            <a:ext cx="1894115" cy="885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B6D127-8E2C-728B-3DD6-AD14B8EB3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9" r="60615"/>
          <a:stretch>
            <a:fillRect/>
          </a:stretch>
        </p:blipFill>
        <p:spPr>
          <a:xfrm>
            <a:off x="839752" y="2316400"/>
            <a:ext cx="1903445" cy="885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786197-F81A-0679-D7FA-A774283D8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19" r="40311"/>
          <a:stretch>
            <a:fillRect/>
          </a:stretch>
        </p:blipFill>
        <p:spPr>
          <a:xfrm>
            <a:off x="821093" y="3349945"/>
            <a:ext cx="1912776" cy="885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7B7065-FC1F-4237-54A7-DA700B0DF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35" r="20195"/>
          <a:stretch>
            <a:fillRect/>
          </a:stretch>
        </p:blipFill>
        <p:spPr>
          <a:xfrm>
            <a:off x="821093" y="4431881"/>
            <a:ext cx="1912776" cy="885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067726-5B90-5594-D0B0-108CF521B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44"/>
          <a:stretch>
            <a:fillRect/>
          </a:stretch>
        </p:blipFill>
        <p:spPr>
          <a:xfrm>
            <a:off x="821093" y="5513815"/>
            <a:ext cx="1911436" cy="8859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111BD5-E848-C76F-BDA5-79833E3F789F}"/>
              </a:ext>
            </a:extLst>
          </p:cNvPr>
          <p:cNvSpPr/>
          <p:nvPr/>
        </p:nvSpPr>
        <p:spPr>
          <a:xfrm>
            <a:off x="2825835" y="1268755"/>
            <a:ext cx="75124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US" b="1" dirty="0"/>
              <a:t>Platform footprint overview:</a:t>
            </a:r>
            <a:r>
              <a:rPr lang="en-US" dirty="0"/>
              <a:t> The dashboard currently tracks </a:t>
            </a:r>
            <a:r>
              <a:rPr lang="en-US" b="1" dirty="0"/>
              <a:t>279,712 active property listings</a:t>
            </a:r>
            <a:r>
              <a:rPr lang="en-US" dirty="0"/>
              <a:t>, serving as the foundation for our booking and revenue metrics.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A3BF84-008F-484C-1D89-679297760BD5}"/>
              </a:ext>
            </a:extLst>
          </p:cNvPr>
          <p:cNvSpPr/>
          <p:nvPr/>
        </p:nvSpPr>
        <p:spPr>
          <a:xfrm>
            <a:off x="2825834" y="2316400"/>
            <a:ext cx="751248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US" b="1" dirty="0"/>
              <a:t>Geographic breakdown:</a:t>
            </a:r>
            <a:r>
              <a:rPr lang="en-US" dirty="0"/>
              <a:t> Data in this view covers </a:t>
            </a:r>
            <a:r>
              <a:rPr lang="en-US" b="1" dirty="0"/>
              <a:t>10 unique cities</a:t>
            </a:r>
            <a:r>
              <a:rPr lang="en-US" dirty="0"/>
              <a:t>, allowing for direct cross-market performance and revenue comparisons.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9AF481-0CDA-805B-244F-F2B533242EB4}"/>
              </a:ext>
            </a:extLst>
          </p:cNvPr>
          <p:cNvSpPr/>
          <p:nvPr/>
        </p:nvSpPr>
        <p:spPr>
          <a:xfrm>
            <a:off x="2825834" y="3349945"/>
            <a:ext cx="7512483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US" b="1" dirty="0"/>
              <a:t>Total host engagement:</a:t>
            </a:r>
            <a:r>
              <a:rPr lang="en-US" dirty="0"/>
              <a:t> The platform currently supports </a:t>
            </a:r>
            <a:r>
              <a:rPr lang="en-US" b="1" dirty="0"/>
              <a:t>182,024 individual hosts</a:t>
            </a:r>
            <a:r>
              <a:rPr lang="en-US" dirty="0"/>
              <a:t>, forming the core network behind our booking inventory.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9FAC11-468D-A9FB-71E1-FB2A4C40AE32}"/>
              </a:ext>
            </a:extLst>
          </p:cNvPr>
          <p:cNvSpPr/>
          <p:nvPr/>
        </p:nvSpPr>
        <p:spPr>
          <a:xfrm>
            <a:off x="2825833" y="4431881"/>
            <a:ext cx="75124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US" b="1" dirty="0"/>
              <a:t>Portfolio diversity overview:</a:t>
            </a:r>
            <a:r>
              <a:rPr lang="en-US" dirty="0"/>
              <a:t> The active inventory spans </a:t>
            </a:r>
            <a:r>
              <a:rPr lang="en-US" b="1" dirty="0"/>
              <a:t>144 distinct property types</a:t>
            </a:r>
            <a:r>
              <a:rPr lang="en-US" dirty="0"/>
              <a:t>, supporting our strategy to capture niche and non-traditional travel segments.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597215-859D-223E-A2BD-FEF4864D7868}"/>
              </a:ext>
            </a:extLst>
          </p:cNvPr>
          <p:cNvSpPr/>
          <p:nvPr/>
        </p:nvSpPr>
        <p:spPr>
          <a:xfrm>
            <a:off x="2825832" y="5513815"/>
            <a:ext cx="75124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/>
            <a:r>
              <a:rPr lang="en-US" b="1" dirty="0"/>
              <a:t>Total feedback volume:</a:t>
            </a:r>
            <a:r>
              <a:rPr lang="en-US" dirty="0"/>
              <a:t> The dashboard tracks </a:t>
            </a:r>
            <a:r>
              <a:rPr lang="en-US" b="1" dirty="0"/>
              <a:t>1,798,300 traveler reviews</a:t>
            </a:r>
            <a:r>
              <a:rPr lang="en-US" dirty="0"/>
              <a:t>, reflecting the cumulative historical engagement and guest satisfaction metrics on the platform.</a:t>
            </a:r>
          </a:p>
        </p:txBody>
      </p:sp>
    </p:spTree>
    <p:extLst>
      <p:ext uri="{BB962C8B-B14F-4D97-AF65-F5344CB8AC3E}">
        <p14:creationId xmlns:p14="http://schemas.microsoft.com/office/powerpoint/2010/main" val="224785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D58E3-D304-06E6-8B51-DBDA2ED6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F2788-ACF0-2A26-AA78-F5D25E793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F878DF-23D0-A949-4AD1-A26528B80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5" b="14080"/>
          <a:stretch>
            <a:fillRect/>
          </a:stretch>
        </p:blipFill>
        <p:spPr>
          <a:xfrm>
            <a:off x="270587" y="768230"/>
            <a:ext cx="7237449" cy="34958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FF4D11-CCFD-E791-FFE3-96C1826F109C}"/>
              </a:ext>
            </a:extLst>
          </p:cNvPr>
          <p:cNvSpPr/>
          <p:nvPr/>
        </p:nvSpPr>
        <p:spPr>
          <a:xfrm>
            <a:off x="7604821" y="1745913"/>
            <a:ext cx="4232616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b="0" dirty="0">
                <a:effectLst/>
              </a:rPr>
              <a:t>In </a:t>
            </a:r>
            <a:r>
              <a:rPr lang="en-US" b="1" dirty="0">
                <a:solidFill>
                  <a:schemeClr val="bg1"/>
                </a:solidFill>
                <a:effectLst/>
              </a:rPr>
              <a:t>2015</a:t>
            </a:r>
            <a:r>
              <a:rPr lang="en-US" b="0" dirty="0">
                <a:effectLst/>
              </a:rPr>
              <a:t>, Airbnb reached the </a:t>
            </a:r>
            <a:r>
              <a:rPr lang="en-US" b="1" dirty="0">
                <a:solidFill>
                  <a:schemeClr val="bg1"/>
                </a:solidFill>
              </a:rPr>
              <a:t>highest</a:t>
            </a:r>
            <a:r>
              <a:rPr lang="en-US" b="0" dirty="0">
                <a:effectLst/>
              </a:rPr>
              <a:t> number of new listings. 2016 and 2017 saw a restraint also due to a tightening in local regulations. Despite this, Airbnb became </a:t>
            </a:r>
            <a:r>
              <a:rPr lang="en-US" b="1" dirty="0">
                <a:solidFill>
                  <a:schemeClr val="bg1"/>
                </a:solidFill>
              </a:rPr>
              <a:t>profitable </a:t>
            </a:r>
            <a:r>
              <a:rPr lang="en-US" b="0" dirty="0">
                <a:effectLst/>
              </a:rPr>
              <a:t>in the second half of 2016, and 2017 marked the first full year of generating income. From 2018, there was a new growth stopped in 2019 by the </a:t>
            </a:r>
            <a:r>
              <a:rPr lang="en-US" b="1" dirty="0">
                <a:solidFill>
                  <a:schemeClr val="bg1"/>
                </a:solidFill>
              </a:rPr>
              <a:t>COVID-19 </a:t>
            </a:r>
            <a:r>
              <a:rPr lang="en-US" b="0" dirty="0">
                <a:effectLst/>
              </a:rPr>
              <a:t>pandemic.</a:t>
            </a:r>
          </a:p>
          <a:p>
            <a:pPr algn="just"/>
            <a:br>
              <a:rPr lang="en-US" dirty="0"/>
            </a:b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2A0E47-2E6D-7B34-F939-6DCF9C3F8DC8}"/>
              </a:ext>
            </a:extLst>
          </p:cNvPr>
          <p:cNvSpPr/>
          <p:nvPr/>
        </p:nvSpPr>
        <p:spPr>
          <a:xfrm>
            <a:off x="270587" y="4589356"/>
            <a:ext cx="11650825" cy="16927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300" b="0" dirty="0">
                <a:effectLst/>
              </a:rPr>
              <a:t>This product lifecycle chart illustrates the trajectory of new Airbnb listings from </a:t>
            </a:r>
            <a:r>
              <a:rPr lang="en-US" sz="1300" b="1" dirty="0">
                <a:effectLst/>
              </a:rPr>
              <a:t>2008 to 2021</a:t>
            </a:r>
            <a:r>
              <a:rPr lang="en-US" sz="1300" b="0" dirty="0">
                <a:effectLst/>
              </a:rPr>
              <a:t>, mapping their evolution across six distinct phases: </a:t>
            </a:r>
            <a:r>
              <a:rPr lang="en-US" sz="1300" b="1" dirty="0">
                <a:effectLst/>
              </a:rPr>
              <a:t>Introduction</a:t>
            </a:r>
            <a:r>
              <a:rPr lang="en-US" sz="1300" b="0" dirty="0">
                <a:effectLst/>
              </a:rPr>
              <a:t> (2008–2010) establishing a take-off point, </a:t>
            </a:r>
            <a:r>
              <a:rPr lang="en-US" sz="1300" b="1" dirty="0">
                <a:effectLst/>
              </a:rPr>
              <a:t>Growth</a:t>
            </a:r>
            <a:r>
              <a:rPr lang="en-US" sz="1300" b="0" dirty="0">
                <a:effectLst/>
              </a:rPr>
              <a:t> (2010–2013) showing rapid acceleration, and </a:t>
            </a:r>
            <a:r>
              <a:rPr lang="en-US" sz="1300" b="1" dirty="0">
                <a:effectLst/>
              </a:rPr>
              <a:t>Maturity</a:t>
            </a:r>
            <a:r>
              <a:rPr lang="en-US" sz="1300" b="0" dirty="0">
                <a:effectLst/>
              </a:rPr>
              <a:t> (2013–2016) where listings hit an all-time </a:t>
            </a:r>
            <a:r>
              <a:rPr lang="en-US" sz="1300" b="1" dirty="0">
                <a:effectLst/>
              </a:rPr>
              <a:t>"Peak Point"</a:t>
            </a:r>
            <a:r>
              <a:rPr lang="en-US" sz="1300" b="0" dirty="0">
                <a:effectLst/>
              </a:rPr>
              <a:t> of roughly 45,000. This is followed by a sharp </a:t>
            </a:r>
            <a:r>
              <a:rPr lang="en-US" sz="1300" b="1" dirty="0">
                <a:effectLst/>
              </a:rPr>
              <a:t>Decline</a:t>
            </a:r>
            <a:r>
              <a:rPr lang="en-US" sz="1300" b="0" dirty="0">
                <a:effectLst/>
              </a:rPr>
              <a:t> (2016–2018) due to tightening local regulations, a brief </a:t>
            </a:r>
            <a:r>
              <a:rPr lang="en-US" sz="1300" b="1" dirty="0">
                <a:effectLst/>
              </a:rPr>
              <a:t>Reinvention</a:t>
            </a:r>
            <a:r>
              <a:rPr lang="en-US" sz="1300" b="0" dirty="0">
                <a:effectLst/>
              </a:rPr>
              <a:t> recovery phase (2018–2019) that establishes a secondary </a:t>
            </a:r>
            <a:r>
              <a:rPr lang="en-US" sz="1300" b="1" dirty="0">
                <a:effectLst/>
              </a:rPr>
              <a:t>"Pre-Covid"</a:t>
            </a:r>
            <a:r>
              <a:rPr lang="en-US" sz="1300" b="0" dirty="0">
                <a:effectLst/>
              </a:rPr>
              <a:t> peak, and a final </a:t>
            </a:r>
            <a:r>
              <a:rPr lang="en-US" sz="1300" b="1" dirty="0">
                <a:effectLst/>
              </a:rPr>
              <a:t>Covid-19</a:t>
            </a:r>
            <a:r>
              <a:rPr lang="en-US" sz="1300" b="0" dirty="0">
                <a:effectLst/>
              </a:rPr>
              <a:t> phase (2019–2021) showing a near-vertical collapse in listings down to near zero.</a:t>
            </a:r>
          </a:p>
          <a:p>
            <a:r>
              <a:rPr lang="en-US" sz="1300" b="0" dirty="0">
                <a:effectLst/>
              </a:rPr>
              <a:t>Throughout the timeline, the macro volume is driven entirely by the overall </a:t>
            </a:r>
            <a:r>
              <a:rPr lang="en-US" sz="1300" b="1" dirty="0">
                <a:effectLst/>
              </a:rPr>
              <a:t>Count of </a:t>
            </a:r>
            <a:r>
              <a:rPr lang="en-US" sz="1300" b="1" dirty="0" err="1">
                <a:effectLst/>
              </a:rPr>
              <a:t>listing_id</a:t>
            </a:r>
            <a:r>
              <a:rPr lang="en-US" sz="1300" b="0" dirty="0">
                <a:effectLst/>
              </a:rPr>
              <a:t> (light blue line) and </a:t>
            </a:r>
            <a:r>
              <a:rPr lang="en-US" sz="1300" b="1" dirty="0">
                <a:effectLst/>
              </a:rPr>
              <a:t>Private Rooms</a:t>
            </a:r>
            <a:r>
              <a:rPr lang="en-US" sz="1300" b="0" dirty="0">
                <a:effectLst/>
              </a:rPr>
              <a:t> (pink line), while </a:t>
            </a:r>
            <a:r>
              <a:rPr lang="en-US" sz="1300" b="1" dirty="0">
                <a:effectLst/>
              </a:rPr>
              <a:t>Entire Places, Hotel Rooms, and Shared Rooms</a:t>
            </a:r>
            <a:r>
              <a:rPr lang="en-US" sz="1300" b="0" dirty="0">
                <a:effectLst/>
              </a:rPr>
              <a:t> remain flat at the baseline.</a:t>
            </a:r>
          </a:p>
          <a:p>
            <a:br>
              <a:rPr lang="en-US" sz="1300" dirty="0"/>
            </a:b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93E46B-CE79-BC6E-8334-0610EBA22133}"/>
              </a:ext>
            </a:extLst>
          </p:cNvPr>
          <p:cNvSpPr/>
          <p:nvPr/>
        </p:nvSpPr>
        <p:spPr>
          <a:xfrm>
            <a:off x="7508036" y="936949"/>
            <a:ext cx="18261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Insights </a:t>
            </a:r>
          </a:p>
        </p:txBody>
      </p:sp>
    </p:spTree>
    <p:extLst>
      <p:ext uri="{BB962C8B-B14F-4D97-AF65-F5344CB8AC3E}">
        <p14:creationId xmlns:p14="http://schemas.microsoft.com/office/powerpoint/2010/main" val="4068547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6409A-69EE-B1E9-2040-39181447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AA17D2-6272-013D-C0AD-0888C9A85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F0C7CF4-7BB1-0081-E765-6F4512BFDDE0}"/>
              </a:ext>
            </a:extLst>
          </p:cNvPr>
          <p:cNvSpPr/>
          <p:nvPr/>
        </p:nvSpPr>
        <p:spPr>
          <a:xfrm>
            <a:off x="4477589" y="554394"/>
            <a:ext cx="18261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Insights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FE935-F56A-BB35-F9A0-380795CFA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28" r="47811" b="33772"/>
          <a:stretch>
            <a:fillRect/>
          </a:stretch>
        </p:blipFill>
        <p:spPr>
          <a:xfrm>
            <a:off x="270587" y="696872"/>
            <a:ext cx="4077476" cy="3303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71F09-D949-7E96-834F-F5FBCEB6B3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11" t="15225" r="2205" b="60792"/>
          <a:stretch>
            <a:fillRect/>
          </a:stretch>
        </p:blipFill>
        <p:spPr>
          <a:xfrm>
            <a:off x="270587" y="4130537"/>
            <a:ext cx="4088105" cy="15891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60CAF3-3F4D-3FF2-188B-F7BAAC94C931}"/>
              </a:ext>
            </a:extLst>
          </p:cNvPr>
          <p:cNvSpPr/>
          <p:nvPr/>
        </p:nvSpPr>
        <p:spPr>
          <a:xfrm>
            <a:off x="4488217" y="1200726"/>
            <a:ext cx="7677797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dirty="0"/>
              <a:t>here is a clear mismatch between </a:t>
            </a:r>
            <a:r>
              <a:rPr lang="en-US" b="1" dirty="0"/>
              <a:t>supply and pricing power</a:t>
            </a:r>
            <a:r>
              <a:rPr lang="en-US" dirty="0"/>
              <a:t> on the platform. The previous lifecycles showed that the platform's supply is heavily driven by </a:t>
            </a:r>
            <a:r>
              <a:rPr lang="en-US" b="1" dirty="0"/>
              <a:t>Private Rooms</a:t>
            </a:r>
            <a:r>
              <a:rPr lang="en-US" dirty="0"/>
              <a:t>, yet this data reveals they yield the lowest average price (</a:t>
            </a:r>
            <a:r>
              <a:rPr lang="en-US" b="1" dirty="0"/>
              <a:t>$462</a:t>
            </a:r>
            <a:r>
              <a:rPr lang="en-US" dirty="0"/>
              <a:t>). Conversely, </a:t>
            </a:r>
            <a:r>
              <a:rPr lang="en-US" b="1" dirty="0"/>
              <a:t>Hotel Rooms</a:t>
            </a:r>
            <a:r>
              <a:rPr lang="en-US" dirty="0"/>
              <a:t> demand the highest premium (</a:t>
            </a:r>
            <a:r>
              <a:rPr lang="en-US" b="1" dirty="0"/>
              <a:t>$800</a:t>
            </a:r>
            <a:r>
              <a:rPr lang="en-US" dirty="0"/>
              <a:t>), validating Airbnb's operational shift during its "Maturity" phase to actively push for an </a:t>
            </a:r>
            <a:r>
              <a:rPr lang="en-US" b="1" dirty="0"/>
              <a:t>"Increase of Hotel Rooms"</a:t>
            </a:r>
            <a:r>
              <a:rPr lang="en-US" dirty="0"/>
              <a:t> to capture higher-margin revenue despite lower total listing volumes. Paris, NYC, and Sydney account for almost half of the total listings and 59% of total reviews. </a:t>
            </a:r>
            <a:r>
              <a:rPr lang="en-US" b="1" dirty="0"/>
              <a:t>Paris</a:t>
            </a:r>
            <a:r>
              <a:rPr lang="en-US" dirty="0"/>
              <a:t> is the city with the most listings and reviews. A possible driver is the prices for hotel rooms being twice as much as Airbnb!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AB5FD-5DE5-02C5-D607-31B7B0BA1EFA}"/>
              </a:ext>
            </a:extLst>
          </p:cNvPr>
          <p:cNvSpPr txBox="1"/>
          <p:nvPr/>
        </p:nvSpPr>
        <p:spPr>
          <a:xfrm>
            <a:off x="4477589" y="3999909"/>
            <a:ext cx="7548273" cy="2392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300" b="0" u="none" strike="noStrike" dirty="0">
                <a:effectLst/>
                <a:latin typeface="Google Sans"/>
              </a:rPr>
              <a:t>These two charts provide a breakdown of Airbnb's global footprint, highlighting </a:t>
            </a:r>
            <a:r>
              <a:rPr lang="en-US" sz="1300" b="1" u="none" strike="noStrike" dirty="0">
                <a:effectLst/>
                <a:latin typeface="Google Sans"/>
              </a:rPr>
              <a:t>Market Share By City</a:t>
            </a:r>
            <a:r>
              <a:rPr lang="en-US" sz="1300" b="0" u="none" strike="noStrike" dirty="0">
                <a:effectLst/>
                <a:latin typeface="Google Sans"/>
              </a:rPr>
              <a:t> and the </a:t>
            </a:r>
            <a:r>
              <a:rPr lang="en-US" sz="1300" b="1" u="none" strike="noStrike" dirty="0">
                <a:effectLst/>
                <a:latin typeface="Google Sans"/>
              </a:rPr>
              <a:t>Average Price</a:t>
            </a:r>
            <a:r>
              <a:rPr lang="en-US" sz="1300" b="0" u="none" strike="noStrike" dirty="0">
                <a:effectLst/>
                <a:latin typeface="Google Sans"/>
              </a:rPr>
              <a:t> by accommodation type.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00" b="1" u="none" strike="noStrike" dirty="0">
                <a:effectLst/>
                <a:latin typeface="Google Sans"/>
              </a:rPr>
              <a:t>Market Share By City (Pareto Chart):</a:t>
            </a:r>
            <a:r>
              <a:rPr lang="en-US" sz="1300" b="0" u="none" strike="noStrike" dirty="0">
                <a:effectLst/>
                <a:latin typeface="Google Sans"/>
              </a:rPr>
              <a:t> This chart ranks cities by total listings, tracking the proportion of standard listings vs. </a:t>
            </a:r>
            <a:r>
              <a:rPr lang="en-US" sz="1300" b="1" u="none" strike="noStrike" dirty="0" err="1">
                <a:effectLst/>
                <a:latin typeface="Google Sans"/>
              </a:rPr>
              <a:t>Superhost</a:t>
            </a:r>
            <a:r>
              <a:rPr lang="en-US" sz="1300" b="1" u="none" strike="noStrike" dirty="0">
                <a:effectLst/>
                <a:latin typeface="Google Sans"/>
              </a:rPr>
              <a:t> listings</a:t>
            </a:r>
            <a:r>
              <a:rPr lang="en-US" sz="1300" b="0" u="none" strike="noStrike" dirty="0">
                <a:effectLst/>
                <a:latin typeface="Google Sans"/>
              </a:rPr>
              <a:t> (red bars) along with a </a:t>
            </a:r>
            <a:r>
              <a:rPr lang="en-US" sz="1300" b="1" u="none" strike="noStrike" dirty="0">
                <a:effectLst/>
                <a:latin typeface="Google Sans"/>
              </a:rPr>
              <a:t>Cumulative % line</a:t>
            </a:r>
            <a:r>
              <a:rPr lang="en-US" sz="1300" b="0" u="none" strike="noStrike" dirty="0">
                <a:effectLst/>
                <a:latin typeface="Google Sans"/>
              </a:rPr>
              <a:t>. </a:t>
            </a:r>
            <a:r>
              <a:rPr lang="en-US" sz="1300" b="1" u="none" strike="noStrike" dirty="0">
                <a:effectLst/>
                <a:latin typeface="Google Sans"/>
              </a:rPr>
              <a:t>Paris</a:t>
            </a:r>
            <a:r>
              <a:rPr lang="en-US" sz="1300" b="0" u="none" strike="noStrike" dirty="0">
                <a:effectLst/>
                <a:latin typeface="Google Sans"/>
              </a:rPr>
              <a:t> dominates as the top market with a </a:t>
            </a:r>
            <a:r>
              <a:rPr lang="en-US" sz="1300" b="1" u="none" strike="noStrike" dirty="0">
                <a:effectLst/>
                <a:latin typeface="Google Sans"/>
              </a:rPr>
              <a:t>23.13% individual market share</a:t>
            </a:r>
            <a:r>
              <a:rPr lang="en-US" sz="1300" b="0" u="none" strike="noStrike" dirty="0">
                <a:effectLst/>
                <a:latin typeface="Google Sans"/>
              </a:rPr>
              <a:t>, followed by </a:t>
            </a:r>
            <a:r>
              <a:rPr lang="en-US" sz="1300" b="1" u="none" strike="noStrike" dirty="0">
                <a:effectLst/>
                <a:latin typeface="Google Sans"/>
              </a:rPr>
              <a:t>New York</a:t>
            </a:r>
            <a:r>
              <a:rPr lang="en-US" sz="1300" b="0" u="none" strike="noStrike" dirty="0">
                <a:effectLst/>
                <a:latin typeface="Google Sans"/>
              </a:rPr>
              <a:t>; together with </a:t>
            </a:r>
            <a:r>
              <a:rPr lang="en-US" sz="1300" b="1" u="none" strike="noStrike" dirty="0">
                <a:effectLst/>
                <a:latin typeface="Google Sans"/>
              </a:rPr>
              <a:t>Sydney</a:t>
            </a:r>
            <a:r>
              <a:rPr lang="en-US" sz="1300" b="0" u="none" strike="noStrike" dirty="0">
                <a:effectLst/>
                <a:latin typeface="Google Sans"/>
              </a:rPr>
              <a:t>, the top three cities account for nearly half (</a:t>
            </a:r>
            <a:r>
              <a:rPr lang="en-US" sz="1300" b="1" u="none" strike="noStrike" dirty="0">
                <a:effectLst/>
                <a:latin typeface="Google Sans"/>
              </a:rPr>
              <a:t>48.38%</a:t>
            </a:r>
            <a:r>
              <a:rPr lang="en-US" sz="1300" b="0" u="none" strike="noStrike" dirty="0">
                <a:effectLst/>
                <a:latin typeface="Google Sans"/>
              </a:rPr>
              <a:t>) of the entire dataset's total volume.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300" b="1" u="none" strike="noStrike" dirty="0">
                <a:effectLst/>
                <a:latin typeface="Google Sans"/>
              </a:rPr>
              <a:t>Average Price (Bar Chart):</a:t>
            </a:r>
            <a:r>
              <a:rPr lang="en-US" sz="1300" b="0" u="none" strike="noStrike" dirty="0">
                <a:effectLst/>
                <a:latin typeface="Google Sans"/>
              </a:rPr>
              <a:t> This chart displays the average nightly rate per room type, revealing that </a:t>
            </a:r>
            <a:r>
              <a:rPr lang="en-US" sz="1300" b="1" u="none" strike="noStrike" dirty="0">
                <a:effectLst/>
                <a:latin typeface="Google Sans"/>
              </a:rPr>
              <a:t>Hotel Rooms are the most expensive</a:t>
            </a:r>
            <a:r>
              <a:rPr lang="en-US" sz="1300" b="0" u="none" strike="noStrike" dirty="0">
                <a:effectLst/>
                <a:latin typeface="Google Sans"/>
              </a:rPr>
              <a:t> at </a:t>
            </a:r>
            <a:r>
              <a:rPr lang="en-US" sz="1300" b="1" u="none" strike="noStrike" dirty="0">
                <a:effectLst/>
                <a:latin typeface="Google Sans"/>
              </a:rPr>
              <a:t>$800</a:t>
            </a:r>
            <a:r>
              <a:rPr lang="en-US" sz="1300" b="0" u="none" strike="noStrike" dirty="0">
                <a:effectLst/>
                <a:latin typeface="Google Sans"/>
              </a:rPr>
              <a:t>, followed by </a:t>
            </a:r>
            <a:r>
              <a:rPr lang="en-US" sz="1300" b="1" u="none" strike="noStrike" dirty="0">
                <a:effectLst/>
                <a:latin typeface="Google Sans"/>
              </a:rPr>
              <a:t>Entire Places</a:t>
            </a:r>
            <a:r>
              <a:rPr lang="en-US" sz="1300" b="0" u="none" strike="noStrike" dirty="0">
                <a:effectLst/>
                <a:latin typeface="Google Sans"/>
              </a:rPr>
              <a:t> ($673) and </a:t>
            </a:r>
            <a:r>
              <a:rPr lang="en-US" sz="1300" b="1" u="none" strike="noStrike" dirty="0">
                <a:effectLst/>
                <a:latin typeface="Google Sans"/>
              </a:rPr>
              <a:t>Shared Rooms</a:t>
            </a:r>
            <a:r>
              <a:rPr lang="en-US" sz="1300" b="0" u="none" strike="noStrike" dirty="0">
                <a:effectLst/>
                <a:latin typeface="Google Sans"/>
              </a:rPr>
              <a:t> ($580), while </a:t>
            </a:r>
            <a:r>
              <a:rPr lang="en-US" sz="1300" b="1" u="none" strike="noStrike" dirty="0">
                <a:effectLst/>
                <a:latin typeface="Google Sans"/>
              </a:rPr>
              <a:t>Private Rooms are the most affordable</a:t>
            </a:r>
            <a:r>
              <a:rPr lang="en-US" sz="1300" b="0" u="none" strike="noStrike" dirty="0">
                <a:effectLst/>
                <a:latin typeface="Google Sans"/>
              </a:rPr>
              <a:t> at </a:t>
            </a:r>
            <a:r>
              <a:rPr lang="en-US" sz="1300" b="1" u="none" strike="noStrike" dirty="0">
                <a:effectLst/>
                <a:latin typeface="Google Sans"/>
              </a:rPr>
              <a:t>$462</a:t>
            </a:r>
            <a:r>
              <a:rPr lang="en-US" sz="1300" b="0" u="none" strike="noStrike" dirty="0">
                <a:effectLst/>
                <a:latin typeface="Googl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1444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4DDA0-489C-F919-26FF-5999DC87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C8457-146C-2FFC-ECA2-5E2ED25BF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7" y="139959"/>
            <a:ext cx="970384" cy="30300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CB4508-9FEA-4775-F8BC-0977E6017F50}"/>
              </a:ext>
            </a:extLst>
          </p:cNvPr>
          <p:cNvSpPr/>
          <p:nvPr/>
        </p:nvSpPr>
        <p:spPr>
          <a:xfrm>
            <a:off x="4477589" y="554394"/>
            <a:ext cx="18261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Insights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EB3B8-69C5-285B-86CE-B24B5F7BD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1" t="38568" r="2072" b="33771"/>
          <a:stretch>
            <a:fillRect/>
          </a:stretch>
        </p:blipFill>
        <p:spPr>
          <a:xfrm>
            <a:off x="270587" y="707591"/>
            <a:ext cx="3950889" cy="1757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C9AE49-6D20-E580-31E2-5D7CAF8AE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09"/>
          <a:stretch>
            <a:fillRect/>
          </a:stretch>
        </p:blipFill>
        <p:spPr>
          <a:xfrm>
            <a:off x="4553339" y="3857474"/>
            <a:ext cx="7368074" cy="18761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6414F7-040E-7AC9-3A09-3AC5488A30B4}"/>
              </a:ext>
            </a:extLst>
          </p:cNvPr>
          <p:cNvSpPr txBox="1"/>
          <p:nvPr/>
        </p:nvSpPr>
        <p:spPr>
          <a:xfrm>
            <a:off x="4477589" y="1234474"/>
            <a:ext cx="74438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city’s market volume does not dictate its quality of user experience. While the previous chart proved </a:t>
            </a:r>
            <a:r>
              <a:rPr lang="en-US" b="1" u="none" strike="noStrike" dirty="0">
                <a:effectLst/>
                <a:latin typeface="Google Sans"/>
              </a:rPr>
              <a:t>Paris</a:t>
            </a:r>
            <a:r>
              <a:rPr lang="en-US" dirty="0"/>
              <a:t> is Airbnb's undisputed volume leader with over 23% market share, this data reveals it sits near the bottom tier for guest satisfaction (</a:t>
            </a:r>
            <a:r>
              <a:rPr lang="en-US" b="1" u="none" strike="noStrike" dirty="0">
                <a:effectLst/>
                <a:latin typeface="Google Sans"/>
              </a:rPr>
              <a:t>93 overall rating</a:t>
            </a:r>
            <a:r>
              <a:rPr lang="en-US" dirty="0"/>
              <a:t>). In contrast, emerging or secondary volume markets like </a:t>
            </a:r>
            <a:r>
              <a:rPr lang="en-US" b="1" u="none" strike="noStrike" dirty="0">
                <a:effectLst/>
                <a:latin typeface="Google Sans"/>
              </a:rPr>
              <a:t>Mexico City</a:t>
            </a:r>
            <a:r>
              <a:rPr lang="en-US" dirty="0"/>
              <a:t> and </a:t>
            </a:r>
            <a:r>
              <a:rPr lang="en-US" b="1" u="none" strike="noStrike" dirty="0">
                <a:effectLst/>
                <a:latin typeface="Google Sans"/>
              </a:rPr>
              <a:t>Cape Town</a:t>
            </a:r>
            <a:r>
              <a:rPr lang="en-US" dirty="0"/>
              <a:t> deliver far superior experiences and value for money, presenting a strategic opportunity for Airbnb to shift promotional focus toward these high-satisfaction regions to improve brand loyalty and avoid user fatigue in saturated, lower-rated mega-markets.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A66E29-98F7-AD09-EE47-6D8496B1981E}"/>
              </a:ext>
            </a:extLst>
          </p:cNvPr>
          <p:cNvSpPr txBox="1"/>
          <p:nvPr/>
        </p:nvSpPr>
        <p:spPr>
          <a:xfrm>
            <a:off x="270587" y="3857474"/>
            <a:ext cx="414188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u="none" strike="noStrike" dirty="0">
                <a:effectLst/>
                <a:latin typeface="Google Sans"/>
              </a:rPr>
              <a:t>This visualization presents user satisfaction metrics across top destinations, consisting of a top bar chart showing </a:t>
            </a:r>
            <a:r>
              <a:rPr lang="en-US" sz="1300" b="1" u="none" strike="noStrike" dirty="0">
                <a:effectLst/>
                <a:latin typeface="Google Sans"/>
              </a:rPr>
              <a:t>overall average ratings</a:t>
            </a:r>
            <a:r>
              <a:rPr lang="en-US" sz="1300" dirty="0"/>
              <a:t> out of 100 and a bottom heat map breaking down specific performance sub-categories on a 10-point scale. </a:t>
            </a:r>
            <a:r>
              <a:rPr lang="en-US" sz="1300" b="1" u="none" strike="noStrike" dirty="0">
                <a:effectLst/>
                <a:latin typeface="Google Sans"/>
              </a:rPr>
              <a:t>Mexico City</a:t>
            </a:r>
            <a:r>
              <a:rPr lang="en-US" sz="1300" dirty="0"/>
              <a:t> leads global satisfaction with both the highest overall average score of </a:t>
            </a:r>
            <a:r>
              <a:rPr lang="en-US" sz="1300" b="1" u="none" strike="noStrike" dirty="0">
                <a:effectLst/>
                <a:latin typeface="Google Sans"/>
              </a:rPr>
              <a:t>95</a:t>
            </a:r>
            <a:r>
              <a:rPr lang="en-US" sz="1300" dirty="0"/>
              <a:t> and near-perfect marks across the board, notably dominating in </a:t>
            </a:r>
            <a:r>
              <a:rPr lang="en-US" sz="1300" b="1" u="none" strike="noStrike" dirty="0">
                <a:effectLst/>
                <a:latin typeface="Google Sans"/>
              </a:rPr>
              <a:t>Location (9.80)</a:t>
            </a:r>
            <a:r>
              <a:rPr lang="en-US" sz="1300" dirty="0"/>
              <a:t> and </a:t>
            </a:r>
            <a:r>
              <a:rPr lang="en-US" sz="1300" b="1" u="none" strike="noStrike" dirty="0">
                <a:effectLst/>
                <a:latin typeface="Google Sans"/>
              </a:rPr>
              <a:t>Value for Money (9.55)</a:t>
            </a:r>
            <a:r>
              <a:rPr lang="en-US" sz="1300" dirty="0"/>
              <a:t>, while major hubs like Paris and Bangkok lag behind with lower overall scores (93) and lower sub-scores across categories like Cleanliness and Value.</a:t>
            </a:r>
          </a:p>
        </p:txBody>
      </p:sp>
    </p:spTree>
    <p:extLst>
      <p:ext uri="{BB962C8B-B14F-4D97-AF65-F5344CB8AC3E}">
        <p14:creationId xmlns:p14="http://schemas.microsoft.com/office/powerpoint/2010/main" val="128966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E585D"/>
            </a:gs>
            <a:gs pos="100000">
              <a:schemeClr val="bg1">
                <a:lumMod val="8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E3431-8A32-6DFF-B978-826B2652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8021A0-DCAB-B8AA-B866-C6DB9AE4D3B3}"/>
              </a:ext>
            </a:extLst>
          </p:cNvPr>
          <p:cNvSpPr/>
          <p:nvPr/>
        </p:nvSpPr>
        <p:spPr>
          <a:xfrm>
            <a:off x="4088332" y="3864047"/>
            <a:ext cx="4015335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6600" b="0" cap="none" spc="0" dirty="0">
                <a:ln w="0"/>
                <a:solidFill>
                  <a:srgbClr val="FE585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vantGarde Md BT" panose="020B0602020202020204" pitchFamily="34" charset="0"/>
              </a:rPr>
              <a:t>Thank You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D3DFC73-2106-27C5-720D-A57932DCB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76799" y="1127067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95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1613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AvantGarde Md BT</vt:lpstr>
      <vt:lpstr>Calibri</vt:lpstr>
      <vt:lpstr>Calibri Light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Debraj</dc:creator>
  <cp:lastModifiedBy>Debraj</cp:lastModifiedBy>
  <cp:revision>14</cp:revision>
  <dcterms:created xsi:type="dcterms:W3CDTF">2026-08-13T11:17:00Z</dcterms:created>
  <dcterms:modified xsi:type="dcterms:W3CDTF">2026-08-13T14:51:31Z</dcterms:modified>
</cp:coreProperties>
</file>