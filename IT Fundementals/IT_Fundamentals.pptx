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notesMasterIdLst>
    <p:notesMasterId r:id="rId6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71" Type="http://schemas.openxmlformats.org/officeDocument/2006/relationships/viewProps" Target="viewProps.xml"/><Relationship Id="rId72" Type="http://schemas.openxmlformats.org/officeDocument/2006/relationships/theme" Target="theme/theme1.xml"/><Relationship Id="rId7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4" name="Shape 2"/>
          <p:cNvSpPr/>
          <p:nvPr/>
        </p:nvSpPr>
        <p:spPr>
          <a:xfrm>
            <a:off x="5408676" y="128016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6093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&amp; Data Fundamentals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463040" y="4343400"/>
            <a:ext cx="92628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Foundational Program on Information Technology, Business Systems, and Data-Driven Decision Making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591556" y="4160520"/>
            <a:ext cx="1005840" cy="2743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8823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882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82880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IT &amp; Business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4476" y="182880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9" name="Shape 7"/>
          <p:cNvSpPr/>
          <p:nvPr/>
        </p:nvSpPr>
        <p:spPr>
          <a:xfrm>
            <a:off x="6259068" y="188823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0" name="Text 8"/>
          <p:cNvSpPr/>
          <p:nvPr/>
        </p:nvSpPr>
        <p:spPr>
          <a:xfrm>
            <a:off x="6259068" y="188823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80860" y="182880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266547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26654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26464" y="260604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Analyst Role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4476" y="260604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9068" y="266547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6259068" y="266547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0860" y="260604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44271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4427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338328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94476" y="3383280"/>
            <a:ext cx="5180076" cy="612648"/>
          </a:xfrm>
          <a:prstGeom prst="roundRect">
            <a:avLst>
              <a:gd name="adj" fmla="val 11940"/>
            </a:avLst>
          </a:prstGeom>
          <a:solidFill>
            <a:srgbClr val="F4F7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59068" y="3442716"/>
            <a:ext cx="493776" cy="49377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6259068" y="344271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80860" y="3383280"/>
            <a:ext cx="4357116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Ethics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BEGIN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3037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IT enables and shapes modern business operations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292379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65938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different data types, sources, and collection methods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61721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35280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role, skills, and methodologies of a Business Analyst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31063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04622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data, information, and knowledge in decision making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00405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473964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data-driven principles to real business scenarios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40080" y="569747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960120" y="5433060"/>
            <a:ext cx="7498080" cy="693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sound data governance and ethical data use</a:t>
            </a:r>
            <a:endParaRPr lang="en-US" sz="1550" dirty="0"/>
          </a:p>
        </p:txBody>
      </p:sp>
      <p:sp>
        <p:nvSpPr>
          <p:cNvPr id="21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Program Is Structured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701546" y="3749040"/>
            <a:ext cx="8785860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5766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117576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IT &amp; Business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32938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32938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71572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90110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469011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28744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Analyst Role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7282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4728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85916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vs. Information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04454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8204454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943088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961626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6162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700260" y="4503420"/>
            <a:ext cx="15742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&amp; Ethics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comp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IT &amp; Business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technology backbone of modern organizations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omp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 Information Technology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ompu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encompasses hardware, software, networks, and data systems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components: computing infrastructure, applications, and connectivity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enables storage, processing, retrieval, and exchange of information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has shifted IT from fixed assets to flexible services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 basics is essential for every business professional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IT in Business Operations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Streamlines repetitive tasks and workflows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teams, systems, and partners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and organizes business data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operations into measurable performance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Business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er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(Enterprise Resource Planning)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finance, HR, supply chain, and operations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single source of truth across departments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SAP, Oracle, Microsoft Dynamics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c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(Customer Relationship Management)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customer interactions and sales pipelines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marketing, service, and support activity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Salesforce, HubSpot, Zoho CRM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Interplay Between IT and Business Strategy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strate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strategy must align with and support business goals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investments should be justified by business value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reshapes how strategy is executed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leaders and IT teams need shared priorities and language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IT enables agility, innovation, and competitive advantage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 behind every business decision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Data Types (Part 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struct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in rows and columns (databases, spreadsheets)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searchable and queryable with SQL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sales records, transaction logs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unstructu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format or model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advanced tools to analyze (text, images, video)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emails, social media posts, recordings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Data Types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data sits between the two: JSON, XML, log files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tags or markers but no rigid table structure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organizations manage a mix of all three types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storage and tools depends on data type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classifying data improves analysis and governance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Sources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bus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Sources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HR, and finance systems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research, social media, public data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repositories of business records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ap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feeds from other systems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Sources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sources reflect an organization's own operations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 add market and competitive context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provide structured, queryable long-term storage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allow systems to exchange data automatically and in real time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sources gives a fuller picture for analysis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Methods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7263" y="3749040"/>
            <a:ext cx="8434426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1483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1351483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&amp; Forms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0090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6009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2300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Logs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68696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31613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77302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67730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40219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Sensors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5909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5909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4882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Feeds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ol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Methods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olle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methods that match the question being answered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quantitative methods (surveys, sensors) with qualitative (interviews)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collection methods for reproducibility and audit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collection where possible to reduce human error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consider consent and privacy during collection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Lifecycle Management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7263" y="3749040"/>
            <a:ext cx="8434426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1483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1351483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0090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6009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2300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68696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31613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77302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67730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40219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5909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5909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4882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Lifecycle Management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lif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carries its own risks, costs, and controls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decisions balance accessibility, cost, and compliance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preserves data no longer in active use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policies reduce risk and unnecessary storage cost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lifecycle policy keeps data useful and compliant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and Integrity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correctly reflects reality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critical fields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lifecy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across systems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when needed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and Integrity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 leads to flawed analysis and bad decisions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means data remains accurate and unaltered over time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rules and audits catch errors early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stewardship assigns clear ownership for quality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continuous discipline, not a one-time fix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Analyst Role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business needs and technical solutions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Business Analyst Role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Analyst (BA) bridges business needs and IT solutions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translate problems into requirements and actionable plans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spans strategy, process improvement, and system design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work across industries: finance, healthcare, retail, technology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 balance business insight with technical fluency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&amp; Responsibilities (Part 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who analyzes business needs and processes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problems and recommends practical solutions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liaison between stakeholders and delivery teams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respons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Responsibilities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and documenting requirements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processes and workflows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solutions meet business needs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respon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 &amp; Responsibilities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respons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 workshops and requirement-gathering sessions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business cases and cost-benefit analyses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testing and user acceptance activities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implementation and measure business outcomes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refine processes based on feedback and data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for Business Analysts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commun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persuasive, cross-audience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complex problems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puzz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practical, workable solutions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stakeh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across diverse teams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skil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for Business Analysts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skil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uncovers the real problem behind a request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skills ensure requirements are clear and traceable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Facilitation skills keep workshops focused and productive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acumen connects solutions to organizational value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helps BAs work across varied methodologies and teams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Methodologies (Part 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waterf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phase-by-phase approach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defined fully upfront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stable, well-understood projects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ag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in short cycles (sprints)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evolve through continuous feedback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dynamic, fast-changing environments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ag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 Methodologies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ag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approaches blend Agile flexibility with Waterfall structure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choice depends on project risk and complexity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adapt their techniques to fit the chosen methodology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frameworks: Scrum, Kanban, PMBOK, BABOK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always the same: deliver business value reliably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stak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Management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stakeh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include anyone affected by or influencing a project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stakeholders early using a stakeholder map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influence and interest to prioritize engagement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Sponsors, users, and technical teams often have different goals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mapping prevents late surprises and misalignment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Management (Part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7263" y="3749040"/>
            <a:ext cx="8434426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1483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1351483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0090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6009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2300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68696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31613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77302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67730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40219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5909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5909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4882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vs. Information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facts to meaningful business insight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vs. Processed Information (Part 1)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raw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Unorganized facts and figures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inherent context or meaning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list of transaction numbers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Information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organized, structured, and given context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specific question or need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monthly revenue trend report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vs. Processed Information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inf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involves cleaning, organizing, and summarizing data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turns numbers into something people can act on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raw data can produce different information for different audiences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processed data can mislead just as easily as it informs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 play a key role in this transformation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Process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580132" y="3749040"/>
            <a:ext cx="7028688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4352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205435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68696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56869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28744" y="450342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83040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908304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943088" y="4503420"/>
            <a:ext cx="33314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Process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knowle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raw, unprocessed facts collected from various sources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data organized and given context and structure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Knowledge: information combined with experience and judgment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builds further, applying knowledge to guide future action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adds value and enables better decisions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of Information in Decision Making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choices in evidence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Trends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patterns over time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Focus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what matters most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Response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timely action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of Information in Decision Making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dec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information reduces uncertainty in decision making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information allows organizations to respond to change quickly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information builds trust in reports and recommendations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poor information often exceeds the cost of gathering it well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only as good as the information behind them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dec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 Making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confident business action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Data-Driven Decision Making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 making (DDDM) uses evidence over intuition alone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grounded in analysis of relevant, reliable data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DDDM applies at every level: strategic, tactical, and operational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remove judgment — it strengthens it with evidence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increasingly build DDDM into their culture and tools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Data-Driven Decision Making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Objectives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question you're answering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Data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accurate inputs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Analysis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methods and tools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decis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drive decisions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Data-Driven Decision Making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business question, not the available data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 before drawing conclusions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quantitative analysis with qualitative context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decision criteria transparent and repeatable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outcomes to continuously improve the process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Using Data for Decisions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assumptions, more evidence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confident decisions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objective criteria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facts across teams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bene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Using Data for Decisions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bene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reliance on gut feeling and personal bias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accountability by making reasoning traceable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opportunities that intuition alone might miss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better forecasting and resource planning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stakeholder confidence in recommended actions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in the Data-Driven Decision Process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877263" y="3749040"/>
            <a:ext cx="8434426" cy="0"/>
          </a:xfrm>
          <a:prstGeom prst="line">
            <a:avLst/>
          </a:prstGeom>
          <a:noFill/>
          <a:ln w="38100">
            <a:solidFill>
              <a:srgbClr val="D5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1483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1351483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Question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0090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60090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2300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68696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31613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77302" y="3223260"/>
            <a:ext cx="1051560" cy="10515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677302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40219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85909" y="3223260"/>
            <a:ext cx="1051560" cy="10515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5909" y="32232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48826" y="4503420"/>
            <a:ext cx="192572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in the Data-Driven Decision Process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question clearly before collecting any data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data from reliable, relevant sources only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using methods appropriate to the data and question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act, documenting the rationale used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outcomes and feed lessons back into the process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Pitfalls in Data-Driven Approaches (Part 1)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challe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Quality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disconnected sources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deci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Cherry-picking supportive data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Over-Analysis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decisions, lost momentum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halle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Pitfalls in Data-Driven Approaches (Part 2)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halle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is often mistaken for causation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complex dashboards can obscure rather than clarify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business context can lead to wrong conclusions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Resistance to change can undermine adoption of DDDM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data with experience, ethics, and common sense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Discussions / Real-Life Examples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uses sales data to optimize inventory and reduce waste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applies transaction analysis to detect fraud in real time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uses patient data to improve scheduling and outcomes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adjusts pricing dynamically based on demand data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case shows data turning into a concrete business action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of Business Scenarios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scenar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applying frameworks to realistic business problems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core question before jumping to data or tools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stakeholders, constraints, and available data sources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multiple possible interpretations before recommending action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clearly, with a supported recommendation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3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9217152" y="2560320"/>
            <a:ext cx="1737360" cy="1737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deck/icons/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4118" y="2977286"/>
            <a:ext cx="903427" cy="903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Governance &amp; Ethics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responsibly, securely, and legally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Governance?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gover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defines how data is managed across an organization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sets standards for quality, availability, and security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ensures data is trustworthy and used consistently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spans people, processes, and technology — not just tools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governance reduces risk and improves decision confidence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Governance? (Part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 for data use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ro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accountability for data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compli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legal requirements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treated as a business asset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and Procedures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poli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set the rules; procedures describe how to follow them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data access, classification, retention, and sharing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documented, communicated, and regularly reviewed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consistent basis for audits and compliance checks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policies balance control with practical usability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and Procedures (Part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Define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can be collected and why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access which data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data is retained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Define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handling instructions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paths for incidents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approval workflows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Responsibilities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ro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Owner: accountable for a specific data domain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Steward: manages day-to-day data quality and use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Custodian: maintains the technical systems and storage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Users: follow policy when accessing and using data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 prevent gaps and duplicated effort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Responsibilities (Part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r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Owner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 the domain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Steward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quality daily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Custodian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technical systems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stakeh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policy in practice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et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Data Ethics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eth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ethics guides the responsible collection and use of data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individual rights, dignity, and reasonable expectations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using data in ways that cause harm or unfair treatment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fairness and avoid bias in data-driven outcomes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use builds long-term trust with customers and partners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of Data Ethics (Part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eth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biased outcomes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priv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personal boundaries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transparenc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clear about data use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compli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consequences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priv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and Confidentiality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priva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protects an individual's right to control their own data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protects sensitive data from unauthorized disclosure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only the data necessary for a stated purpose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encryption, access controls, and anonymization where appropriate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of privacy carry legal, financial, and reputational risk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and Confidentiality (Part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priv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Practices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data collection to what's needed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clear, informed consent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individuals to access or delete their data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gover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Practices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on a need-to-know basis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sensitive data at rest and in transit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and log access to sensitive systems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transpar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and Accountability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transpar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means being open about how data is collected and used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privacy notices help build informed trust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means owning outcomes of data-driven decisions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should be able to explain and justify data practices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principles are foundational to public and regulatory trust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and Accountability (Part 2)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transpar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Notices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data practices plainly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ro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clear accountability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qua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review decisions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stakeh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Trust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Openness builds confidence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ompl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 (Part 1)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ompli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(EU): protects personal data and grants individual rights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(California): gives consumers control over their personal data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regimes: HIPAA, PCI-DSS, and various sector-specific laws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Non-compliance can result in significant fines and legal action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requirements should be built into processes, not bolted on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Compliance (Part 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344119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9" name="Text 6"/>
          <p:cNvSpPr/>
          <p:nvPr/>
        </p:nvSpPr>
        <p:spPr>
          <a:xfrm>
            <a:off x="1298448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access, correct, and erase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51560" y="441655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8"/>
          <p:cNvSpPr/>
          <p:nvPr/>
        </p:nvSpPr>
        <p:spPr>
          <a:xfrm>
            <a:off x="1298448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lawful basis for processing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51560" y="5391912"/>
            <a:ext cx="128016" cy="128016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3" name="Text 10"/>
          <p:cNvSpPr/>
          <p:nvPr/>
        </p:nvSpPr>
        <p:spPr>
          <a:xfrm>
            <a:off x="1298448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breach notification within 72 hours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23076" y="1874520"/>
            <a:ext cx="5225796" cy="4297680"/>
          </a:xfrm>
          <a:prstGeom prst="roundRect">
            <a:avLst>
              <a:gd name="adj" fmla="val 2553"/>
            </a:avLst>
          </a:prstGeom>
          <a:solidFill>
            <a:srgbClr val="F4F7F9"/>
          </a:solidFill>
          <a:ln/>
        </p:spPr>
      </p:sp>
      <p:sp>
        <p:nvSpPr>
          <p:cNvPr id="15" name="Shape 12"/>
          <p:cNvSpPr/>
          <p:nvPr/>
        </p:nvSpPr>
        <p:spPr>
          <a:xfrm>
            <a:off x="65516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/home/claude/deck/icons/compli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241" y="2278685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74636" y="2130552"/>
            <a:ext cx="39456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(California)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34556" y="34411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5"/>
          <p:cNvSpPr/>
          <p:nvPr/>
        </p:nvSpPr>
        <p:spPr>
          <a:xfrm>
            <a:off x="6981444" y="301752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know what data is collected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734556" y="44165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6981444" y="399288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opt out of data sale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734556" y="539191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981444" y="4968240"/>
            <a:ext cx="4219956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 request deletion of personal data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497312" y="548640"/>
            <a:ext cx="914400" cy="91440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4" name="Image 0" descr="/home/claude/deck/icons/cul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76809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Culture of Responsible Data Use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732520" y="1965960"/>
            <a:ext cx="2834640" cy="4160520"/>
          </a:xfrm>
          <a:prstGeom prst="roundRect">
            <a:avLst>
              <a:gd name="adj" fmla="val 3871"/>
            </a:avLst>
          </a:prstGeom>
          <a:solidFill>
            <a:srgbClr val="F4F7F9"/>
          </a:solidFill>
          <a:ln/>
        </p:spPr>
      </p:sp>
      <p:sp>
        <p:nvSpPr>
          <p:cNvPr id="7" name="Shape 4"/>
          <p:cNvSpPr/>
          <p:nvPr/>
        </p:nvSpPr>
        <p:spPr>
          <a:xfrm>
            <a:off x="9372600" y="3264408"/>
            <a:ext cx="1554480" cy="1554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deck/icons/cultu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675" y="3637483"/>
            <a:ext cx="808330" cy="80833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2299716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6"/>
          <p:cNvSpPr/>
          <p:nvPr/>
        </p:nvSpPr>
        <p:spPr>
          <a:xfrm>
            <a:off x="960120" y="1965960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use starts with leadership commitment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080" y="3131820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8"/>
          <p:cNvSpPr/>
          <p:nvPr/>
        </p:nvSpPr>
        <p:spPr>
          <a:xfrm>
            <a:off x="960120" y="2798064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employees regularly on policies, ethics, and compliance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396392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0"/>
          <p:cNvSpPr/>
          <p:nvPr/>
        </p:nvSpPr>
        <p:spPr>
          <a:xfrm>
            <a:off x="960120" y="3630168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reporting of concerns without fear of retaliation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640080" y="479602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2"/>
          <p:cNvSpPr/>
          <p:nvPr/>
        </p:nvSpPr>
        <p:spPr>
          <a:xfrm>
            <a:off x="960120" y="4462272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privacy and ethics checks into everyday workflows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40080" y="5628132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960120" y="5294376"/>
            <a:ext cx="749808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data culture turns governance into shared habit, not burden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" y="24574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/home/claude/deck/icons/compu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238" y="264398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Business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965960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powers modern operations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3076" y="18745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0" name="Shape 7"/>
          <p:cNvSpPr/>
          <p:nvPr/>
        </p:nvSpPr>
        <p:spPr>
          <a:xfrm>
            <a:off x="6711696" y="24574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234" y="264398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8956" y="21305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48956" y="26243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data drives quality insight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1028700" y="4857750"/>
            <a:ext cx="777240" cy="77724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/home/claude/deck/icons/b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238" y="504428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 Role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965960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business and technical teams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3076" y="4274820"/>
            <a:ext cx="5225796" cy="1943100"/>
          </a:xfrm>
          <a:prstGeom prst="roundRect">
            <a:avLst>
              <a:gd name="adj" fmla="val 5647"/>
            </a:avLst>
          </a:prstGeom>
          <a:solidFill>
            <a:srgbClr val="F4F7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711696" y="485775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govern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234" y="504428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8956" y="4530852"/>
            <a:ext cx="3671316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Ethics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648956" y="5024628"/>
            <a:ext cx="3671316" cy="1028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builds lasting trust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3931920"/>
            <a:ext cx="4572000" cy="457200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645920"/>
            <a:ext cx="4023360" cy="4023360"/>
          </a:xfrm>
          <a:prstGeom prst="ellipse">
            <a:avLst/>
          </a:prstGeom>
          <a:solidFill>
            <a:srgbClr val="13385C"/>
          </a:solidFill>
          <a:ln/>
        </p:spPr>
      </p:sp>
      <p:sp>
        <p:nvSpPr>
          <p:cNvPr id="4" name="Shape 2"/>
          <p:cNvSpPr/>
          <p:nvPr/>
        </p:nvSpPr>
        <p:spPr>
          <a:xfrm>
            <a:off x="5362956" y="1645920"/>
            <a:ext cx="1463040" cy="14630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deck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4086" y="1997050"/>
            <a:ext cx="760781" cy="760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3832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463040" y="4434840"/>
            <a:ext cx="9262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2026-07-30T05:28:46Z</dcterms:created>
  <dcterms:modified xsi:type="dcterms:W3CDTF">2026-07-30T05:28:46Z</dcterms:modified>
</cp:coreProperties>
</file>